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17"/>
  </p:notesMasterIdLst>
  <p:handoutMasterIdLst>
    <p:handoutMasterId r:id="rId18"/>
  </p:handoutMasterIdLst>
  <p:sldIdLst>
    <p:sldId id="322" r:id="rId2"/>
    <p:sldId id="259" r:id="rId3"/>
    <p:sldId id="308" r:id="rId4"/>
    <p:sldId id="318" r:id="rId5"/>
    <p:sldId id="321" r:id="rId6"/>
    <p:sldId id="319" r:id="rId7"/>
    <p:sldId id="261" r:id="rId8"/>
    <p:sldId id="262" r:id="rId9"/>
    <p:sldId id="263" r:id="rId10"/>
    <p:sldId id="264" r:id="rId11"/>
    <p:sldId id="275" r:id="rId12"/>
    <p:sldId id="276" r:id="rId13"/>
    <p:sldId id="277" r:id="rId14"/>
    <p:sldId id="278" r:id="rId15"/>
    <p:sldId id="279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737" autoAdjust="0"/>
  </p:normalViewPr>
  <p:slideViewPr>
    <p:cSldViewPr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D65A81B-1729-49E1-BB47-87C320A00634}" type="datetimeFigureOut">
              <a:rPr lang="en-US"/>
              <a:pPr>
                <a:defRPr/>
              </a:pPr>
              <a:t>6/8/2021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D4E36022-CC3F-48D8-A68E-66D47BD172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B1750F0-D9E2-4536-A062-1E254168B105}" type="datetimeFigureOut">
              <a:rPr lang="en-US"/>
              <a:pPr>
                <a:defRPr/>
              </a:pPr>
              <a:t>6/8/2021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314A6A40-4037-4E95-92A3-CB84340950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4A6A40-4037-4E95-92A3-CB84340950C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86398BD-E813-4AA7-A895-6D89E3F727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C4DC6-E6F2-48A7-BBEB-7CA40B7FD1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4B87AC6-11F3-45DC-AA42-2C4934203B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A46E3-BF78-4FC5-9E69-1252214525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432E5BE-0C09-4D00-8176-29707B7D88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9EBA0-7E08-4347-891A-543EC5AE23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B07CDEC-A80C-48CB-9CC3-6732D33FE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D0E1DAD-9000-4B36-B69C-DF08686E9F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3464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C476A30-0E9F-4264-B4C7-3B27E61B7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E62F27-580E-4C4D-96D6-54854FF9E8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153AB-1EE0-424D-8D76-593312103F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EF15D-32F1-4CA9-86FB-4018C08D08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7D91901D-0C08-400B-9F76-96B85B87BC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2" r:id="rId2"/>
    <p:sldLayoutId id="2147483818" r:id="rId3"/>
    <p:sldLayoutId id="2147483813" r:id="rId4"/>
    <p:sldLayoutId id="2147483819" r:id="rId5"/>
    <p:sldLayoutId id="2147483814" r:id="rId6"/>
    <p:sldLayoutId id="2147483820" r:id="rId7"/>
    <p:sldLayoutId id="2147483821" r:id="rId8"/>
    <p:sldLayoutId id="2147483822" r:id="rId9"/>
    <p:sldLayoutId id="2147483815" r:id="rId10"/>
    <p:sldLayoutId id="2147483816" r:id="rId11"/>
    <p:sldLayoutId id="2147483823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wershow.com/relay.php?pid=8807339&amp;url=http%3A%2F%2Fen.wikipedia.org%2Fwiki%2FSystems_enginee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owershow.com/relay.php?pid=8807339&amp;url=http%3A%2F%2Fen.wikipedia.org%2Fwiki%2FSoftware_engineering" TargetMode="External"/><Relationship Id="rId4" Type="http://schemas.openxmlformats.org/officeDocument/2006/relationships/hyperlink" Target="http://www.powershow.com/relay.php?pid=8807339&amp;url=http%3A%2F%2Fen.wikipedia.org%2Fwiki%2FInformation_system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wershow.com/relay.php?pid=8807339&amp;url=http%3A%2F%2Fen.wikipedia.org%2Fwiki%2FU.S._Department_of_Defens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owershow.com/relay.php?pid=8807339&amp;url=http%3A%2F%2Fen.wikipedia.org%2Fwiki%2FSoftware_developmen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1689BA-0775-433B-A369-98B6E119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F3DFA-9D34-46F6-97E6-6871F63F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07CDEC-A80C-48CB-9CC3-6732D33FE64E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DB70C-AE7A-4115-B68A-399AE4E063C3}"/>
              </a:ext>
            </a:extLst>
          </p:cNvPr>
          <p:cNvSpPr txBox="1"/>
          <p:nvPr/>
        </p:nvSpPr>
        <p:spPr>
          <a:xfrm>
            <a:off x="1600200" y="1295400"/>
            <a:ext cx="670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Software Development Life Cycle (SDLC)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09831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2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14288"/>
            <a:ext cx="7497763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2">
                    <a:satMod val="130000"/>
                  </a:schemeClr>
                </a:solidFill>
              </a:rPr>
              <a:t>SDLC Model</a:t>
            </a:r>
          </a:p>
        </p:txBody>
      </p:sp>
      <p:sp>
        <p:nvSpPr>
          <p:cNvPr id="11267" name="Rectangle 5"/>
          <p:cNvSpPr>
            <a:spLocks noGrp="1" noChangeArrowheads="1"/>
          </p:cNvSpPr>
          <p:nvPr>
            <p:ph idx="1"/>
          </p:nvPr>
        </p:nvSpPr>
        <p:spPr>
          <a:xfrm>
            <a:off x="990600" y="990600"/>
            <a:ext cx="8001000" cy="5715000"/>
          </a:xfrm>
        </p:spPr>
        <p:txBody>
          <a:bodyPr/>
          <a:lstStyle/>
          <a:p>
            <a:pPr eaLnBrk="1" hangingPunct="1"/>
            <a:r>
              <a:rPr lang="en-US" altLang="en-US" sz="2400"/>
              <a:t>Software Development (or Design) Life Cycle</a:t>
            </a:r>
          </a:p>
          <a:p>
            <a:pPr eaLnBrk="1" hangingPunct="1"/>
            <a:r>
              <a:rPr lang="en-US" altLang="en-US" sz="2400"/>
              <a:t>It is a term used in </a:t>
            </a:r>
            <a:r>
              <a:rPr lang="en-US" altLang="en-US" sz="2400">
                <a:hlinkClick r:id="rId3"/>
              </a:rPr>
              <a:t>systems engineering</a:t>
            </a:r>
            <a:r>
              <a:rPr lang="en-US" altLang="en-US" sz="2400"/>
              <a:t>, </a:t>
            </a:r>
            <a:r>
              <a:rPr lang="en-US" altLang="en-US" sz="2400">
                <a:hlinkClick r:id="rId4"/>
              </a:rPr>
              <a:t>information systems</a:t>
            </a:r>
            <a:r>
              <a:rPr lang="en-US" altLang="en-US" sz="2400"/>
              <a:t> and </a:t>
            </a:r>
            <a:r>
              <a:rPr lang="en-US" altLang="en-US" sz="2400">
                <a:hlinkClick r:id="rId5"/>
              </a:rPr>
              <a:t>software engineering</a:t>
            </a:r>
            <a:r>
              <a:rPr lang="en-US" altLang="en-US" sz="2400"/>
              <a:t> to describe a process for planning, creating, testing, and deploying an information system. Following are phases of SDLC: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r>
              <a:rPr lang="en-US" altLang="en-US" sz="2000"/>
              <a:t>Preliminary Investigation: </a:t>
            </a:r>
            <a:r>
              <a:rPr lang="en-US" altLang="en-US" sz="1800"/>
              <a:t>[Includes goal, objectives, cost, time, submit plan with suggestions, nature or scope of problem, alternative solutions, benefits etc.]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r>
              <a:rPr lang="en-US" altLang="en-US" sz="1800" b="1"/>
              <a:t>Requirement Analysis</a:t>
            </a:r>
            <a:r>
              <a:rPr lang="en-US" altLang="en-US" sz="1800"/>
              <a:t>: [requirement definition &amp; specifications etc]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r>
              <a:rPr lang="en-US" altLang="en-US" sz="1800" b="1"/>
              <a:t>System Design</a:t>
            </a:r>
            <a:r>
              <a:rPr lang="en-US" altLang="en-US" sz="1800"/>
              <a:t>: [layouts, models, DFD, ERD, Pseudo-code etc]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r>
              <a:rPr lang="en-US" altLang="en-US" sz="1800" b="1"/>
              <a:t>Implementation</a:t>
            </a:r>
            <a:r>
              <a:rPr lang="en-US" altLang="en-US" sz="1800"/>
              <a:t>: [real code is written here]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r>
              <a:rPr lang="en-US" altLang="en-US" sz="1800" b="1"/>
              <a:t>Integration</a:t>
            </a:r>
            <a:r>
              <a:rPr lang="en-US" altLang="en-US" sz="1800"/>
              <a:t> &amp; </a:t>
            </a:r>
            <a:r>
              <a:rPr lang="en-US" altLang="en-US" sz="1800" b="1"/>
              <a:t>Testing</a:t>
            </a:r>
            <a:r>
              <a:rPr lang="en-US" altLang="en-US" sz="1800"/>
              <a:t>: [units/components are designed and tested, units are combined into modules and tested]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r>
              <a:rPr lang="en-US" altLang="en-US" sz="1800" b="1"/>
              <a:t>Installation</a:t>
            </a:r>
            <a:r>
              <a:rPr lang="en-US" altLang="en-US" sz="1800"/>
              <a:t> &amp; </a:t>
            </a:r>
            <a:r>
              <a:rPr lang="en-US" altLang="en-US" sz="1800" b="1"/>
              <a:t>Maintenance</a:t>
            </a:r>
            <a:r>
              <a:rPr lang="en-US" altLang="en-US" sz="1800"/>
              <a:t>: [beta versions, production, upgradation and extensions]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r>
              <a:rPr lang="en-US" altLang="en-US" sz="1800" b="1"/>
              <a:t>Evaluation</a:t>
            </a:r>
            <a:r>
              <a:rPr lang="en-US" altLang="en-US" sz="1800"/>
              <a:t>: [surveys, feedback, statistics]</a:t>
            </a:r>
          </a:p>
          <a:p>
            <a:pPr marL="812800" lvl="1" indent="-457200" eaLnBrk="1" hangingPunct="1">
              <a:buFont typeface="Gill Sans MT" pitchFamily="34" charset="0"/>
              <a:buAutoNum type="arabicPeriod"/>
            </a:pPr>
            <a:endParaRPr lang="en-US" altLang="en-US" sz="1800"/>
          </a:p>
          <a:p>
            <a:pPr eaLnBrk="1" hangingPunct="1"/>
            <a:endParaRPr lang="en-US" alt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A6986-D20A-4599-9CDA-624E886E50B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2">
                    <a:satMod val="130000"/>
                  </a:schemeClr>
                </a:solidFill>
              </a:rPr>
              <a:t>Capability Maturity Model (CMM)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bench-mark for measuring the maturity of an organization’s software process.</a:t>
            </a:r>
          </a:p>
          <a:p>
            <a:pPr eaLnBrk="1" hangingPunct="1"/>
            <a:r>
              <a:rPr lang="en-US" altLang="en-US" sz="2400"/>
              <a:t>A development model created after study of data collected from organizations that contracted with the </a:t>
            </a:r>
            <a:r>
              <a:rPr lang="en-US" altLang="en-US" sz="2400">
                <a:hlinkClick r:id="rId3"/>
              </a:rPr>
              <a:t>U.S. Department of Defense</a:t>
            </a:r>
            <a:r>
              <a:rPr lang="en-US" altLang="en-US" sz="2400"/>
              <a:t>, who funded the research.</a:t>
            </a:r>
          </a:p>
          <a:p>
            <a:pPr eaLnBrk="1" hangingPunct="1"/>
            <a:r>
              <a:rPr lang="en-US" altLang="en-US" sz="2400"/>
              <a:t>CMM defines 5 levels of process maturity based on certain Key Process Areas (KPA)</a:t>
            </a:r>
          </a:p>
          <a:p>
            <a:pPr eaLnBrk="1" hangingPunct="1"/>
            <a:r>
              <a:rPr lang="en-US" altLang="en-US" sz="2400"/>
              <a:t>The model's aim is to improve existing </a:t>
            </a:r>
            <a:r>
              <a:rPr lang="en-US" altLang="en-US" sz="2400">
                <a:hlinkClick r:id="rId4"/>
              </a:rPr>
              <a:t>software-development</a:t>
            </a:r>
            <a:r>
              <a:rPr lang="en-US" altLang="en-US" sz="2400"/>
              <a:t> 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B1C75C-5D79-46F6-95A0-B140440FE09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8575"/>
            <a:ext cx="3213100" cy="79216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200" dirty="0">
                <a:solidFill>
                  <a:schemeClr val="tx2">
                    <a:satMod val="130000"/>
                  </a:schemeClr>
                </a:solidFill>
              </a:rPr>
              <a:t>CMM Levels</a:t>
            </a:r>
          </a:p>
        </p:txBody>
      </p:sp>
      <p:sp>
        <p:nvSpPr>
          <p:cNvPr id="513027" name="Rectangle 3"/>
          <p:cNvSpPr>
            <a:spLocks noGrp="1" noChangeArrowheads="1"/>
          </p:cNvSpPr>
          <p:nvPr>
            <p:ph idx="1"/>
          </p:nvPr>
        </p:nvSpPr>
        <p:spPr>
          <a:xfrm>
            <a:off x="3429000" y="762000"/>
            <a:ext cx="5715000" cy="5562600"/>
          </a:xfrm>
        </p:spPr>
        <p:txBody>
          <a:bodyPr>
            <a:noAutofit/>
          </a:bodyPr>
          <a:lstStyle/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en-US" sz="2400" b="1" dirty="0"/>
              <a:t>Level 1 – Initial         (~ 70%) 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800" dirty="0"/>
              <a:t>Uncontrolled, undocumented and reactive manner by users or events.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800" dirty="0"/>
              <a:t>Provides a chaotic or unstable environment for the processes.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en-US" sz="2400" b="1" dirty="0"/>
              <a:t>Level 2 – Repeatable (~ 15%)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1800" dirty="0"/>
              <a:t>Some processes are repeatable, possibly with consistent results.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en-US" sz="2400" b="1" dirty="0"/>
              <a:t>Level 3 – Defined      (&lt; 10%)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1800" dirty="0"/>
              <a:t>There are sets of defined and documented standard processes established and subject to some degree of improvement over time.</a:t>
            </a:r>
            <a:endParaRPr lang="en-US" altLang="en-US" sz="1800" dirty="0"/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en-US" sz="2400" b="1" dirty="0"/>
              <a:t>Level 4 – Managed   (&lt; 5%)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1800" dirty="0"/>
              <a:t>Using process metrics, management can effectively control development process.</a:t>
            </a:r>
            <a:endParaRPr lang="en-US" altLang="en-US" sz="1800" dirty="0"/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en-US" sz="2000" b="1" dirty="0"/>
              <a:t>Level 5 – Optimizing  (&lt; 1%)</a:t>
            </a:r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1800" dirty="0"/>
              <a:t>Focus is on continually improving process performance through both incremental and innovative technological changes/improvements.</a:t>
            </a:r>
            <a:endParaRPr lang="en-US" altLang="en-US" sz="1800" dirty="0"/>
          </a:p>
          <a:p>
            <a:pPr marL="886968" lvl="2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en-US" altLang="en-US" sz="1050" dirty="0"/>
          </a:p>
          <a:p>
            <a:pPr marL="82296" indent="0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None/>
              <a:defRPr/>
            </a:pPr>
            <a:endParaRPr lang="en-US" altLang="en-US" sz="1800" dirty="0"/>
          </a:p>
          <a:p>
            <a:pPr marL="365760" indent="-283464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en-US" alt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60817-308B-4699-96B3-5CC02902C1C5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4339" name="Content Placeholder 5" descr="07f75316435dd975678ad54aa156849f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0"/>
            <a:ext cx="9144000" cy="62484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32188-4B9F-443C-9E7D-1994D5C0EB7E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0"/>
            <a:ext cx="9144000" cy="683101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21E77-7A7F-452F-9861-457AC702E3F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-3175"/>
            <a:ext cx="7391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2">
                    <a:satMod val="130000"/>
                  </a:schemeClr>
                </a:solidFill>
              </a:rPr>
              <a:t>1- Waterfall Model</a:t>
            </a:r>
          </a:p>
        </p:txBody>
      </p:sp>
      <p:pic>
        <p:nvPicPr>
          <p:cNvPr id="16387" name="Picture 11" descr="Waterfall SDLC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066800" y="990600"/>
            <a:ext cx="7924800" cy="3886200"/>
          </a:xfrm>
          <a:noFill/>
        </p:spPr>
      </p:pic>
      <p:sp>
        <p:nvSpPr>
          <p:cNvPr id="16388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914400" y="4953000"/>
            <a:ext cx="8077200" cy="1905000"/>
          </a:xfrm>
        </p:spPr>
        <p:txBody>
          <a:bodyPr/>
          <a:lstStyle/>
          <a:p>
            <a:pPr eaLnBrk="1" hangingPunct="1"/>
            <a:r>
              <a:rPr lang="en-US" altLang="en-US" sz="2000" b="1"/>
              <a:t>Requirements </a:t>
            </a:r>
            <a:r>
              <a:rPr lang="en-US" altLang="en-US" sz="2000"/>
              <a:t>– defines needed information, function, behavior, performance and interfaces.</a:t>
            </a:r>
          </a:p>
          <a:p>
            <a:pPr eaLnBrk="1" hangingPunct="1"/>
            <a:r>
              <a:rPr lang="en-US" altLang="en-US" sz="2000" b="1"/>
              <a:t>Design </a:t>
            </a:r>
            <a:r>
              <a:rPr lang="en-US" altLang="en-US" sz="2000"/>
              <a:t>– data structures, software architecture, interface representations, algorithmic details.</a:t>
            </a:r>
          </a:p>
          <a:p>
            <a:pPr eaLnBrk="1" hangingPunct="1"/>
            <a:r>
              <a:rPr lang="en-US" altLang="en-US" sz="2000" b="1"/>
              <a:t>Implementation </a:t>
            </a:r>
            <a:r>
              <a:rPr lang="en-US" altLang="en-US" sz="2000"/>
              <a:t>– source code, database, user documentation, testing.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26C8A3-88A5-4440-81D0-5EDC5EF1B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2">
                    <a:satMod val="130000"/>
                  </a:schemeClr>
                </a:solidFill>
              </a:rPr>
              <a:t>Waterfall Strengths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Easy to understand, easy to use</a:t>
            </a:r>
          </a:p>
          <a:p>
            <a:pPr eaLnBrk="1" hangingPunct="1"/>
            <a:r>
              <a:rPr lang="en-US" altLang="en-US" sz="2800"/>
              <a:t>Provides structure to inexperienced staff</a:t>
            </a:r>
          </a:p>
          <a:p>
            <a:pPr eaLnBrk="1" hangingPunct="1"/>
            <a:r>
              <a:rPr lang="en-US" altLang="en-US" sz="2800"/>
              <a:t>Milestones are well understood</a:t>
            </a:r>
          </a:p>
          <a:p>
            <a:pPr eaLnBrk="1" hangingPunct="1"/>
            <a:r>
              <a:rPr lang="en-US" altLang="en-US" sz="2800"/>
              <a:t>Sets requirements stability</a:t>
            </a:r>
          </a:p>
          <a:p>
            <a:pPr eaLnBrk="1" hangingPunct="1"/>
            <a:r>
              <a:rPr lang="en-US" altLang="en-US" sz="2800"/>
              <a:t>Good for management control (plan, staff, track)</a:t>
            </a:r>
          </a:p>
          <a:p>
            <a:pPr eaLnBrk="1" hangingPunct="1"/>
            <a:r>
              <a:rPr lang="en-US" altLang="en-US" sz="2800"/>
              <a:t>Works well when quality is more important than cost or schedule</a:t>
            </a:r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B0ADB1-3E33-438F-919B-DFBE48229589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2">
                    <a:satMod val="130000"/>
                  </a:schemeClr>
                </a:solidFill>
              </a:rPr>
              <a:t>Waterfall Deficiencies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371600"/>
            <a:ext cx="80010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All requirements must be known upfront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Deliverables created for each phase are considered frozen – inhibits flexibility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Can give a false impression of progress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Does not reflect problem-solving nature of software development – iterations of phases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Integration is one big bang at the end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Little opportunity for customer to preview the system (until it may be too late)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7BBECF-1091-400C-9DC0-A9D8F6D62B1C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2">
                    <a:satMod val="130000"/>
                  </a:schemeClr>
                </a:solidFill>
              </a:rPr>
              <a:t>When to use the Waterfall Model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Requirements are very well known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Product definition is stable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Technology is understood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New version of an existing product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Porting an existing product to a new platform.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7135C9-8B74-4BDA-AE3C-4D076047D892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/>
                </a:solidFill>
              </a:rPr>
              <a:t>2- V-Shaped SDLC Model</a:t>
            </a:r>
          </a:p>
        </p:txBody>
      </p:sp>
      <p:pic>
        <p:nvPicPr>
          <p:cNvPr id="20483" name="Picture 5" descr="VShape SDLC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43000" y="990600"/>
            <a:ext cx="7848600" cy="3757613"/>
          </a:xfrm>
          <a:noFill/>
        </p:spPr>
      </p:pic>
      <p:sp>
        <p:nvSpPr>
          <p:cNvPr id="2048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066800" y="4800600"/>
            <a:ext cx="8077200" cy="1905000"/>
          </a:xfrm>
        </p:spPr>
        <p:txBody>
          <a:bodyPr/>
          <a:lstStyle/>
          <a:p>
            <a:pPr eaLnBrk="1" hangingPunct="1"/>
            <a:r>
              <a:rPr lang="en-US" altLang="en-US" sz="2000"/>
              <a:t>A variant of the Waterfall that emphasizes the verification and validation of the product.</a:t>
            </a:r>
          </a:p>
          <a:p>
            <a:pPr eaLnBrk="1" hangingPunct="1"/>
            <a:r>
              <a:rPr lang="en-US" altLang="en-US" sz="2000" b="1"/>
              <a:t>Testing</a:t>
            </a:r>
            <a:r>
              <a:rPr lang="en-US" altLang="en-US" sz="2000"/>
              <a:t> of the product is planned in </a:t>
            </a:r>
            <a:r>
              <a:rPr lang="en-US" altLang="en-US" sz="2000" b="1"/>
              <a:t>parallel</a:t>
            </a:r>
            <a:r>
              <a:rPr lang="en-US" altLang="en-US" sz="2000"/>
              <a:t> with a corresponding phase of development</a:t>
            </a:r>
          </a:p>
          <a:p>
            <a:pPr eaLnBrk="1" hangingPunct="1"/>
            <a:endParaRPr lang="en-US" alt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8CBFB5-DDEC-4E21-93E2-FBA2AC996FB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/>
                </a:solidFill>
              </a:rPr>
              <a:t>V-Shaped Steps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990600" y="1676400"/>
            <a:ext cx="4038600" cy="3505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Project and Requirements Planning – allocate resources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Product Requirements and Specification Analysis – complete specification of the software system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Architecture or High-Level Design – defines how software functions fulfill the design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Detailed Design – develop algorithms for each architectural component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</p:txBody>
      </p:sp>
      <p:sp>
        <p:nvSpPr>
          <p:cNvPr id="2150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953000" y="1676400"/>
            <a:ext cx="4038600" cy="3581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Production, operation and maintenance – provide for enhancement and corrections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System and acceptance testing – check the entire software system in its environment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Integration and Testing – check that modules  interconnect correctly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Unit testing – check that each module acts as expected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2133600" y="551815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altLang="en-US" b="1"/>
          </a:p>
        </p:txBody>
      </p:sp>
      <p:sp>
        <p:nvSpPr>
          <p:cNvPr id="2" name="TextBox 1"/>
          <p:cNvSpPr txBox="1"/>
          <p:nvPr/>
        </p:nvSpPr>
        <p:spPr>
          <a:xfrm>
            <a:off x="2514600" y="5378450"/>
            <a:ext cx="500062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 </a:t>
            </a:r>
            <a:r>
              <a:rPr lang="en-US" altLang="en-US" dirty="0">
                <a:latin typeface="+mn-lt"/>
                <a:cs typeface="+mn-cs"/>
              </a:rPr>
              <a:t>Coding</a:t>
            </a:r>
            <a:r>
              <a:rPr lang="en-US" altLang="en-US" dirty="0"/>
              <a:t> – transform algorithms into software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87C0F-58D6-45FD-B4CD-F37960B38172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2">
                    <a:satMod val="130000"/>
                  </a:schemeClr>
                </a:solidFill>
              </a:rPr>
              <a:t>V-Shaped Strengths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1447800"/>
            <a:ext cx="7499350" cy="3352800"/>
          </a:xfrm>
        </p:spPr>
        <p:txBody>
          <a:bodyPr/>
          <a:lstStyle/>
          <a:p>
            <a:pPr eaLnBrk="1" hangingPunct="1"/>
            <a:r>
              <a:rPr lang="en-US" altLang="en-US" sz="2800"/>
              <a:t>Emphasize planning for </a:t>
            </a:r>
            <a:r>
              <a:rPr lang="en-US" altLang="en-US" sz="2800" b="1"/>
              <a:t>verification</a:t>
            </a:r>
            <a:r>
              <a:rPr lang="en-US" altLang="en-US" sz="2800"/>
              <a:t> and </a:t>
            </a:r>
            <a:r>
              <a:rPr lang="en-US" altLang="en-US" sz="2800" b="1"/>
              <a:t>validation</a:t>
            </a:r>
            <a:r>
              <a:rPr lang="en-US" altLang="en-US" sz="2800"/>
              <a:t> of the product in early stages of product development</a:t>
            </a:r>
          </a:p>
          <a:p>
            <a:pPr eaLnBrk="1" hangingPunct="1"/>
            <a:r>
              <a:rPr lang="en-US" altLang="en-US" sz="2800"/>
              <a:t>Each </a:t>
            </a:r>
            <a:r>
              <a:rPr lang="en-US" altLang="en-US" sz="2800" b="1"/>
              <a:t>deliverable</a:t>
            </a:r>
            <a:r>
              <a:rPr lang="en-US" altLang="en-US" sz="2800"/>
              <a:t> must be </a:t>
            </a:r>
            <a:r>
              <a:rPr lang="en-US" altLang="en-US" sz="2800" b="1"/>
              <a:t>testable</a:t>
            </a:r>
          </a:p>
          <a:p>
            <a:pPr eaLnBrk="1" hangingPunct="1"/>
            <a:r>
              <a:rPr lang="en-US" altLang="en-US" sz="2800"/>
              <a:t>Project management can track progress by </a:t>
            </a:r>
            <a:r>
              <a:rPr lang="en-US" altLang="en-US" sz="2800" b="1"/>
              <a:t>milestones</a:t>
            </a:r>
          </a:p>
          <a:p>
            <a:pPr eaLnBrk="1" hangingPunct="1"/>
            <a:r>
              <a:rPr lang="en-US" altLang="en-US" sz="2800"/>
              <a:t>Easy to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E90CBF-81B8-44B0-88D9-45896A260D2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2">
                    <a:satMod val="130000"/>
                  </a:schemeClr>
                </a:solidFill>
              </a:rPr>
              <a:t>V-Shaped Weaknesses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1447800"/>
            <a:ext cx="7499350" cy="2743200"/>
          </a:xfrm>
        </p:spPr>
        <p:txBody>
          <a:bodyPr/>
          <a:lstStyle/>
          <a:p>
            <a:pPr eaLnBrk="1" hangingPunct="1"/>
            <a:r>
              <a:rPr lang="en-US" altLang="en-US" sz="2800"/>
              <a:t>Does not easily handle </a:t>
            </a:r>
            <a:r>
              <a:rPr lang="en-US" altLang="en-US" sz="2800" b="1"/>
              <a:t>concurrent</a:t>
            </a:r>
            <a:r>
              <a:rPr lang="en-US" altLang="en-US" sz="2800"/>
              <a:t> events</a:t>
            </a:r>
          </a:p>
          <a:p>
            <a:pPr eaLnBrk="1" hangingPunct="1"/>
            <a:r>
              <a:rPr lang="en-US" altLang="en-US" sz="2800"/>
              <a:t>Does not handle </a:t>
            </a:r>
            <a:r>
              <a:rPr lang="en-US" altLang="en-US" sz="2800" b="1"/>
              <a:t>iterations</a:t>
            </a:r>
            <a:r>
              <a:rPr lang="en-US" altLang="en-US" sz="2800"/>
              <a:t> or phases</a:t>
            </a:r>
          </a:p>
          <a:p>
            <a:pPr eaLnBrk="1" hangingPunct="1"/>
            <a:r>
              <a:rPr lang="en-US" altLang="en-US" sz="2800"/>
              <a:t>Does not easily handle dynamic </a:t>
            </a:r>
            <a:r>
              <a:rPr lang="en-US" altLang="en-US" sz="2800" b="1"/>
              <a:t>changes</a:t>
            </a:r>
            <a:r>
              <a:rPr lang="en-US" altLang="en-US" sz="2800"/>
              <a:t> in requirements</a:t>
            </a:r>
          </a:p>
          <a:p>
            <a:pPr eaLnBrk="1" hangingPunct="1"/>
            <a:r>
              <a:rPr lang="en-US" altLang="en-US" sz="2800"/>
              <a:t>Does not contain </a:t>
            </a:r>
            <a:r>
              <a:rPr lang="en-US" altLang="en-US" sz="2800" b="1"/>
              <a:t>risk analysis </a:t>
            </a:r>
            <a:r>
              <a:rPr lang="en-US" altLang="en-US" sz="2800"/>
              <a:t>activities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2C999E-37E2-4BA5-9079-49595E927AA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2">
                    <a:satMod val="130000"/>
                  </a:schemeClr>
                </a:solidFill>
              </a:rPr>
              <a:t>When to use the V-Shaped Model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1447800"/>
            <a:ext cx="7499350" cy="2819400"/>
          </a:xfrm>
        </p:spPr>
        <p:txBody>
          <a:bodyPr>
            <a:normAutofit lnSpcReduction="10000"/>
          </a:bodyPr>
          <a:lstStyle/>
          <a:p>
            <a:pPr marL="365760" indent="-283464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800" dirty="0"/>
              <a:t>Excellent choice for systems requiring high </a:t>
            </a:r>
            <a:r>
              <a:rPr lang="en-US" altLang="en-US" sz="2800" b="1" dirty="0"/>
              <a:t>reliability</a:t>
            </a:r>
            <a:r>
              <a:rPr lang="en-US" altLang="en-US" sz="2800" dirty="0"/>
              <a:t> – hospital patient control applications</a:t>
            </a:r>
          </a:p>
          <a:p>
            <a:pPr marL="365760" indent="-283464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800" dirty="0"/>
              <a:t>All requirements are </a:t>
            </a:r>
            <a:r>
              <a:rPr lang="en-US" altLang="en-US" sz="2800" b="1" dirty="0"/>
              <a:t>known</a:t>
            </a:r>
            <a:r>
              <a:rPr lang="en-US" altLang="en-US" sz="2800" dirty="0"/>
              <a:t> up-front</a:t>
            </a:r>
          </a:p>
          <a:p>
            <a:pPr marL="365760" indent="-283464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800" dirty="0"/>
              <a:t>When it can be modified to handle changing requirements beyond analysis phase </a:t>
            </a:r>
          </a:p>
          <a:p>
            <a:pPr marL="365760" indent="-283464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800" dirty="0"/>
              <a:t>Solution and technology are known</a:t>
            </a:r>
          </a:p>
          <a:p>
            <a:pPr marL="640080" lvl="1" indent="-237744" eaLnBrk="1" fontAlgn="auto" hangingPunct="1">
              <a:lnSpc>
                <a:spcPct val="90000"/>
              </a:lnSpc>
              <a:spcAft>
                <a:spcPts val="0"/>
              </a:spcAft>
              <a:buFont typeface="Verdana"/>
              <a:buChar char="◦"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268678-92F0-475B-9DBA-33E6B0251A4A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SDLC Models, University of Okara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1AE40D85-3785-497F-B86A-EA5F547E1EF0"/>
  <p:tag name="ISPRING_SCORM_RATE_SLIDES" val="1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G8CZ0Z7BdOSwAEAANoDAAAPAAAAbm9uZS9wbGF5ZXIueG1spZJPb9QwEMXPW6nfIfK99m4Rolo59ICUE0WVFhC3lTeZJqaOHTwTsvvtmfzZpFuQQOKQaPIy72fPs/X9sXbJT4hog0/FRq5FAj4PhfVlKr58zm7uxP376yvdOHOCmNgiFT54EEkBmEfbEPseDVWpeCFIhoqEXx63R7SpqIiarVJd18nujQyxVLfr9UZ9e/i4yyuozY31SMbnzF32ciuSJtoQLZ1S8W4trq9WA/ICZ5F7fInBtf3KKPNQqyYCgieIatz2bN3S38381MErOjWAgkdfDbMfTP78EIrWAfbaSo9tOyDqCYO20rS1mzufYMxTMTbsa0A0JaB0vhRq9Ko/mPWTM1hNHLzA9tymPTiLFYsjfejeL+r+bBmyVxNHXYJ0PUwwnGLWOpeBoTZCIZIIP1rLVdZjv85HsN6IcTnP3Xt8tl5il7PGVWZyCvH0gR18JFOUco5ejtHLwdTbh+ITF49TnLsFMgezhKArqt3bf86j7/6fOAp4Mq0jcV7B+gKOmeW/BDWPQsAz9pqkxsl+tTOVd9ce6hdX40Iadzdl8R1FQiaWwNewMGTUos8w9Zqm1fg5JTTHotXv91JPRC5/AVBLAQIAABQAAgAIAG8CZ0Z7BdOSwAEAANoDAAAPAAAAAAAAAAEAAAAAAAAAAABub25lL3BsYXllci54bWxQSwUGAAAAAAEAAQA9AAAA7QEAAAAA"/>
  <p:tag name="ISPRING_PRESENTATION_TITLE" val="8807339"/>
  <p:tag name="ISPRING_RESOURCE_PATHS_HASH_PRESENTER" val="b66917f749b7daec1db3835d9d6522b4a09aea2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1852</TotalTime>
  <Words>958</Words>
  <Application>Microsoft Office PowerPoint</Application>
  <PresentationFormat>On-screen Show (4:3)</PresentationFormat>
  <Paragraphs>147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Verdana</vt:lpstr>
      <vt:lpstr>Wingdings 2</vt:lpstr>
      <vt:lpstr>Solstice</vt:lpstr>
      <vt:lpstr>PowerPoint Presentation</vt:lpstr>
      <vt:lpstr>SDLC Model</vt:lpstr>
      <vt:lpstr>Capability Maturity Model (CMM)</vt:lpstr>
      <vt:lpstr>CMM Levels</vt:lpstr>
      <vt:lpstr>PowerPoint Presentation</vt:lpstr>
      <vt:lpstr>PowerPoint Presentation</vt:lpstr>
      <vt:lpstr>1- Waterfall Model</vt:lpstr>
      <vt:lpstr>Waterfall Strengths</vt:lpstr>
      <vt:lpstr>Waterfall Deficiencies</vt:lpstr>
      <vt:lpstr>When to use the Waterfall Model</vt:lpstr>
      <vt:lpstr>2- V-Shaped SDLC Model</vt:lpstr>
      <vt:lpstr>V-Shaped Steps</vt:lpstr>
      <vt:lpstr>V-Shaped Strengths</vt:lpstr>
      <vt:lpstr>V-Shaped Weaknesses</vt:lpstr>
      <vt:lpstr>When to use the V-Shaped Model</vt:lpstr>
    </vt:vector>
  </TitlesOfParts>
  <Company>DePaul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8807339</dc:title>
  <dc:creator>John Petlicki</dc:creator>
  <cp:lastModifiedBy>lakshmipradeep0604@gmail.com</cp:lastModifiedBy>
  <cp:revision>143</cp:revision>
  <cp:lastPrinted>1601-01-01T00:00:00Z</cp:lastPrinted>
  <dcterms:created xsi:type="dcterms:W3CDTF">2003-04-01T22:59:55Z</dcterms:created>
  <dcterms:modified xsi:type="dcterms:W3CDTF">2021-06-08T13:33:45Z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8</vt:i4>
  </property>
</Properties>
</file>